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8FA4BE"/>
                </a:solidFill>
                <a:latin typeface="Arial"/>
              </a:defRPr>
            </a:pPr>
            <a:r>
              <a:rPr sz="1000" b="0" i="0" u="none" strike="noStrike">
                <a:solidFill>
                  <a:srgbClr val="8FA4BE"/>
                </a:solidFill>
                <a:latin typeface="Arial"/>
              </a:rPr>
              <a:t>مقارنة الدقة مع الأدوات الأخرى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DFAS</c:v>
                </c:pt>
              </c:strCache>
            </c:strRef>
          </c:tx>
          <c:spPr>
            <a:solidFill>
              <a:srgbClr val="0EA5E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التصيد
Phishing</c:v>
                  </c:pt>
                  <c:pt idx="1">
                    <c:v>الروابط
URL</c:v>
                  </c:pt>
                  <c:pt idx="2">
                    <c:v>الصور
Image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89</c:v>
                </c:pt>
                <c:pt idx="1">
                  <c:v>92</c:v>
                </c:pt>
                <c:pt idx="2">
                  <c:v>85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الأدوات المقارنة</c:v>
                </c:pt>
              </c:strCache>
            </c:strRef>
          </c:tx>
          <c:spPr>
            <a:solidFill>
              <a:srgbClr val="1E3A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التصيد
Phishing</c:v>
                  </c:pt>
                  <c:pt idx="1">
                    <c:v>الروابط
URL</c:v>
                  </c:pt>
                  <c:pt idx="2">
                    <c:v>الصور
Image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75</c:v>
                </c:pt>
                <c:pt idx="1">
                  <c:v>82</c:v>
                </c:pt>
                <c:pt idx="2">
                  <c:v>70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4B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4B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8FA4BE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62B5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28016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28600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329184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429768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54480" y="27432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54480" y="128016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54480" y="228600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54480" y="329184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54480" y="429768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0" y="27432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128016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0" y="228600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0" y="329184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0" y="429768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31920" y="27432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31920" y="128016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31920" y="228600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931920" y="329184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931920" y="429768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20640" y="27432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20640" y="128016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20640" y="228600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20640" y="329184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20640" y="429768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09360" y="27432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09360" y="128016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09360" y="228600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09360" y="329184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09360" y="429768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98080" y="27432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98080" y="128016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498080" y="228600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498080" y="329184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98080" y="429768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686800" y="27432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686800" y="128016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686800" y="228600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686800" y="329184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686800" y="429768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114800" y="640080"/>
            <a:ext cx="914400" cy="914400"/>
          </a:xfrm>
          <a:prstGeom prst="ellipse">
            <a:avLst/>
          </a:prstGeom>
          <a:solidFill>
            <a:srgbClr val="0EA5E9">
              <a:alpha val="20000"/>
            </a:srgbClr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14800" y="65836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🛡</a:t>
            </a:r>
            <a:endParaRPr lang="en-US" sz="2800" dirty="0"/>
          </a:p>
        </p:txBody>
      </p:sp>
      <p:sp>
        <p:nvSpPr>
          <p:cNvPr id="45" name="Shape 43"/>
          <p:cNvSpPr/>
          <p:nvPr/>
        </p:nvSpPr>
        <p:spPr>
          <a:xfrm>
            <a:off x="2926080" y="1664208"/>
            <a:ext cx="3291840" cy="256032"/>
          </a:xfrm>
          <a:prstGeom prst="rect">
            <a:avLst/>
          </a:prstGeom>
          <a:solidFill>
            <a:srgbClr val="EF4444">
              <a:alpha val="20000"/>
            </a:srgbClr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926080" y="166420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ACADEMIC USE ONLY — TLP:AMBER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457200" y="19659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DFAS</a:t>
            </a:r>
            <a:endParaRPr lang="en-US" sz="7200" dirty="0"/>
          </a:p>
        </p:txBody>
      </p:sp>
      <p:sp>
        <p:nvSpPr>
          <p:cNvPr id="48" name="Shape 46"/>
          <p:cNvSpPr/>
          <p:nvPr/>
        </p:nvSpPr>
        <p:spPr>
          <a:xfrm>
            <a:off x="2743200" y="2926080"/>
            <a:ext cx="36576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29992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Forensics Analysis System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457200" y="340156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نظام التحليل الجنائي للجرائم الرقمية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457200" y="4114800"/>
            <a:ext cx="3840480" cy="685800"/>
          </a:xfrm>
          <a:prstGeom prst="rect">
            <a:avLst/>
          </a:prstGeom>
          <a:solidFill>
            <a:srgbClr val="0F1F3D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846320" y="4114800"/>
            <a:ext cx="3840480" cy="685800"/>
          </a:xfrm>
          <a:prstGeom prst="rect">
            <a:avLst/>
          </a:prstGeom>
          <a:solidFill>
            <a:srgbClr val="0F1F3D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548640" y="42062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مشروع تخرج — دبلوم الأمن السيبراني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48640" y="44622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Diploma — Graduation Project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4937760" y="416966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NIST SP 800-86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937760" y="435254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ISO/IEC 27037:2012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937760" y="453542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RFC 3227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0" y="4965192"/>
            <a:ext cx="9144000" cy="182880"/>
          </a:xfrm>
          <a:prstGeom prst="rect">
            <a:avLst/>
          </a:prstGeom>
          <a:solidFill>
            <a:srgbClr val="0F1F3D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DFAS v1.0  ·  2025  ·  Digital Forensics Analysis System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645920" cy="256032"/>
          </a:xfrm>
          <a:prstGeom prst="roundRect">
            <a:avLst>
              <a:gd name="adj" fmla="val 17857"/>
            </a:avLst>
          </a:prstGeom>
          <a:solidFill>
            <a:srgbClr val="8FA4BE">
              <a:alpha val="25000"/>
            </a:srgbClr>
          </a:solidFill>
          <a:ln w="10160">
            <a:solidFill>
              <a:srgbClr val="8FA4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فهرس المحتويات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114800" cy="713232"/>
          </a:xfrm>
          <a:prstGeom prst="rect">
            <a:avLst/>
          </a:prstGeom>
          <a:solidFill>
            <a:srgbClr val="162B5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80160"/>
            <a:ext cx="54864" cy="7132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280160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97280" y="1335024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المقدمة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162763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148840"/>
            <a:ext cx="4114800" cy="713232"/>
          </a:xfrm>
          <a:prstGeom prst="rect">
            <a:avLst/>
          </a:prstGeom>
          <a:solidFill>
            <a:srgbClr val="162B5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148840"/>
            <a:ext cx="54864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148840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97280" y="2203704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أهداف المشروع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249631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4114800" cy="713232"/>
          </a:xfrm>
          <a:prstGeom prst="rect">
            <a:avLst/>
          </a:prstGeom>
          <a:solidFill>
            <a:srgbClr val="162B5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017520"/>
            <a:ext cx="54864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017520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97280" y="3072384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مراجعة الأدبيات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336499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886200"/>
            <a:ext cx="4114800" cy="713232"/>
          </a:xfrm>
          <a:prstGeom prst="rect">
            <a:avLst/>
          </a:prstGeom>
          <a:solidFill>
            <a:srgbClr val="162B5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886200"/>
            <a:ext cx="54864" cy="7132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3886200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097280" y="3941064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منهجية العمل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97280" y="423367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46320" y="1280160"/>
            <a:ext cx="4114800" cy="713232"/>
          </a:xfrm>
          <a:prstGeom prst="rect">
            <a:avLst/>
          </a:prstGeom>
          <a:solidFill>
            <a:srgbClr val="162B5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46320" y="1280160"/>
            <a:ext cx="54864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56048" y="1280160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486400" y="1335024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بيئة الاختبار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86400" y="162763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Environment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46320" y="2148840"/>
            <a:ext cx="4114800" cy="713232"/>
          </a:xfrm>
          <a:prstGeom prst="rect">
            <a:avLst/>
          </a:prstGeom>
          <a:solidFill>
            <a:srgbClr val="162B5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46320" y="2148840"/>
            <a:ext cx="54864" cy="7132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56048" y="2148840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5486400" y="2203704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تحليل النتائج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86400" y="249631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Analysis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846320" y="3017520"/>
            <a:ext cx="4114800" cy="713232"/>
          </a:xfrm>
          <a:prstGeom prst="rect">
            <a:avLst/>
          </a:prstGeom>
          <a:solidFill>
            <a:srgbClr val="162B5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46320" y="3017520"/>
            <a:ext cx="54864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56048" y="3017520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5486400" y="3072384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التوصيات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486400" y="336499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846320" y="3886200"/>
            <a:ext cx="4114800" cy="713232"/>
          </a:xfrm>
          <a:prstGeom prst="rect">
            <a:avLst/>
          </a:prstGeom>
          <a:solidFill>
            <a:srgbClr val="162B5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846320" y="3886200"/>
            <a:ext cx="54864" cy="713232"/>
          </a:xfrm>
          <a:prstGeom prst="rect">
            <a:avLst/>
          </a:prstGeom>
          <a:solidFill>
            <a:srgbClr val="8FA4BE"/>
          </a:solidFill>
          <a:ln w="12700">
            <a:solidFill>
              <a:srgbClr val="8FA4B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56048" y="3886200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5486400" y="3941064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المراجع والملاحق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486400" y="423367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&amp; Appendices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0" y="4965192"/>
            <a:ext cx="9144000" cy="182880"/>
          </a:xfrm>
          <a:prstGeom prst="rect">
            <a:avLst/>
          </a:prstGeom>
          <a:solidFill>
            <a:srgbClr val="0F1F3D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DFAS  ·  8 Sections  ·  Graduation Project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64592"/>
            <a:ext cx="1645920" cy="256032"/>
          </a:xfrm>
          <a:prstGeom prst="roundRect">
            <a:avLst>
              <a:gd name="adj" fmla="val 17857"/>
            </a:avLst>
          </a:prstGeom>
          <a:solidFill>
            <a:srgbClr val="0EA5E9">
              <a:alpha val="25000"/>
            </a:srgbClr>
          </a:solidFill>
          <a:ln w="1016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 — INTRODUCTION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438912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المقدمة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65760" y="98755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320040"/>
            <a:ext cx="2560320" cy="1325880"/>
          </a:xfrm>
          <a:prstGeom prst="rect">
            <a:avLst/>
          </a:prstGeom>
          <a:solidFill>
            <a:srgbClr val="162B5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320040"/>
            <a:ext cx="256032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63640" y="384048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$8T+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263640" y="10058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خسائر عالمية سنوياً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0" y="1874520"/>
            <a:ext cx="2560320" cy="1325880"/>
          </a:xfrm>
          <a:prstGeom prst="rect">
            <a:avLst/>
          </a:prstGeom>
          <a:solidFill>
            <a:srgbClr val="162B5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874520"/>
            <a:ext cx="25603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1938528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263640" y="25603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الجرائم بدأت برسائل تصيد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17920" y="3429000"/>
            <a:ext cx="2560320" cy="1325880"/>
          </a:xfrm>
          <a:prstGeom prst="rect">
            <a:avLst/>
          </a:prstGeom>
          <a:solidFill>
            <a:srgbClr val="162B5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3429000"/>
            <a:ext cx="256032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3493008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27037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263640" y="41148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معيار التحقيق المعتمد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1325880"/>
            <a:ext cx="5577840" cy="1051560"/>
          </a:xfrm>
          <a:prstGeom prst="rect">
            <a:avLst/>
          </a:prstGeom>
          <a:solidFill>
            <a:srgbClr val="162B5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1325880"/>
            <a:ext cx="54864" cy="10515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1371600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الخلفية العامة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0352" y="1645920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مع التحول الرقمي المتسارع، أصبح الفضاء الإلكتروني ميداناً للجرائم الرقمية المتطورة التي تمس الأفراد والمؤسسات والحكومات.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2514600"/>
            <a:ext cx="5577840" cy="1051560"/>
          </a:xfrm>
          <a:prstGeom prst="rect">
            <a:avLst/>
          </a:prstGeom>
          <a:solidFill>
            <a:srgbClr val="162B5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2514600"/>
            <a:ext cx="54864" cy="10515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" y="2560320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المشكلة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0352" y="2834640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غياب إطار عمل موحد ومعرَّب للتحقيق الجنائي الرقمي في جرائم الاحتيال الإلكتروني، وضعف توثيق سلسلة الحفاظ على الأدلة.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3703320"/>
            <a:ext cx="5577840" cy="1051560"/>
          </a:xfrm>
          <a:prstGeom prst="rect">
            <a:avLst/>
          </a:prstGeom>
          <a:solidFill>
            <a:srgbClr val="162B5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3703320"/>
            <a:ext cx="54864" cy="10515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" y="3749040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الهدف العام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30352" y="4023360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بناء نظام DFAS: منصة تحليل جنائي رقمي متكاملة تكشف التصيد الاحتيالي، الروابط الخبيثة، وتزوير الوثائق الرقمية.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0" y="4965192"/>
            <a:ext cx="9144000" cy="182880"/>
          </a:xfrm>
          <a:prstGeom prst="rect">
            <a:avLst/>
          </a:prstGeom>
          <a:solidFill>
            <a:srgbClr val="0F1F3D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DFAS  ·  Section 01: Introduction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645920" cy="256032"/>
          </a:xfrm>
          <a:prstGeom prst="roundRect">
            <a:avLst>
              <a:gd name="adj" fmla="val 17857"/>
            </a:avLst>
          </a:prstGeom>
          <a:solidFill>
            <a:srgbClr val="0D9488">
              <a:alpha val="25000"/>
            </a:srgbClr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 — OBJECTIVES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أهداف المشروع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4206240" cy="1664208"/>
          </a:xfrm>
          <a:prstGeom prst="rect">
            <a:avLst/>
          </a:prstGeom>
          <a:solidFill>
            <a:srgbClr val="162B5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88720"/>
            <a:ext cx="420624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1371600"/>
            <a:ext cx="502920" cy="502920"/>
          </a:xfrm>
          <a:prstGeom prst="ellipse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5568" y="1389888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كشف التصيد الاحتيالي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30352" y="1938528"/>
            <a:ext cx="3886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تطوير محرك تحليل متعدد الطبقات يكشف رسائل Phishing بدقة ≥85% باستخدام 47 مؤشراً لغوياً وسلوكياً.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30352" y="2542032"/>
            <a:ext cx="2286000" cy="219456"/>
          </a:xfrm>
          <a:prstGeom prst="rect">
            <a:avLst/>
          </a:prstGeom>
          <a:solidFill>
            <a:srgbClr val="0EA5E9">
              <a:alpha val="20000"/>
            </a:srgbClr>
          </a:solidFill>
          <a:ln w="762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542032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دقة ≥ 85%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800600" y="1188720"/>
            <a:ext cx="4206240" cy="1664208"/>
          </a:xfrm>
          <a:prstGeom prst="rect">
            <a:avLst/>
          </a:prstGeom>
          <a:solidFill>
            <a:srgbClr val="162B5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00600" y="1188720"/>
            <a:ext cx="42062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65192" y="1371600"/>
            <a:ext cx="502920" cy="50292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65192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550408" y="1389888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تحليل الروابط الخبيثة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65192" y="1938528"/>
            <a:ext cx="3886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بناء محرك فحص URL يُقيّم 13 معياراً أمنياً ويحسب Shannon Entropy لكشف نطاقات DGA.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965192" y="2542032"/>
            <a:ext cx="2286000" cy="219456"/>
          </a:xfrm>
          <a:prstGeom prst="rect">
            <a:avLst/>
          </a:prstGeom>
          <a:solidFill>
            <a:srgbClr val="0D9488">
              <a:alpha val="20000"/>
            </a:srgbClr>
          </a:solidFill>
          <a:ln w="762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65192" y="2542032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13 معيار فحص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65760" y="3017520"/>
            <a:ext cx="4206240" cy="1664208"/>
          </a:xfrm>
          <a:prstGeom prst="rect">
            <a:avLst/>
          </a:prstGeom>
          <a:solidFill>
            <a:srgbClr val="162B5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017520"/>
            <a:ext cx="42062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0352" y="3200400"/>
            <a:ext cx="502920" cy="502920"/>
          </a:xfrm>
          <a:prstGeom prst="ellipse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3200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15568" y="3218688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الجنائيات الرقمية للصور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0352" y="3767328"/>
            <a:ext cx="3886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استخراج وتحليل بيانات EXIF/XMP وتطبيق ELA لكشف التزوير والتلاعب في الوثائق الرقمية.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30352" y="4370832"/>
            <a:ext cx="2286000" cy="219456"/>
          </a:xfrm>
          <a:prstGeom prst="rect">
            <a:avLst/>
          </a:prstGeom>
          <a:solidFill>
            <a:srgbClr val="F59E0B">
              <a:alpha val="20000"/>
            </a:srgbClr>
          </a:solidFill>
          <a:ln w="762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4370832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7 مؤشرات جنائية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800600" y="3017520"/>
            <a:ext cx="4206240" cy="1664208"/>
          </a:xfrm>
          <a:prstGeom prst="rect">
            <a:avLst/>
          </a:prstGeom>
          <a:solidFill>
            <a:srgbClr val="162B5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3017520"/>
            <a:ext cx="420624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965192" y="3200400"/>
            <a:ext cx="502920" cy="502920"/>
          </a:xfrm>
          <a:prstGeom prst="ellipse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65192" y="3200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550408" y="3218688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لوحة قيادة وتقارير ISO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965192" y="3767328"/>
            <a:ext cx="3886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توليد تقارير جنائية رقمية موثقة وفق ISO/IEC 27037 مع سلسلة Chain of Custody كاملة.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965192" y="4370832"/>
            <a:ext cx="2286000" cy="219456"/>
          </a:xfrm>
          <a:prstGeom prst="rect">
            <a:avLst/>
          </a:prstGeom>
          <a:solidFill>
            <a:srgbClr val="10B981">
              <a:alpha val="20000"/>
            </a:srgbClr>
          </a:solidFill>
          <a:ln w="762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65192" y="4370832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ISO/IEC 27037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0" y="4965192"/>
            <a:ext cx="9144000" cy="182880"/>
          </a:xfrm>
          <a:prstGeom prst="rect">
            <a:avLst/>
          </a:prstGeom>
          <a:solidFill>
            <a:srgbClr val="0F1F3D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DFAS  ·  Section 02: Objectives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645920" cy="256032"/>
          </a:xfrm>
          <a:prstGeom prst="roundRect">
            <a:avLst>
              <a:gd name="adj" fmla="val 17857"/>
            </a:avLst>
          </a:prstGeom>
          <a:solidFill>
            <a:srgbClr val="F59E0B">
              <a:alpha val="25000"/>
            </a:srgbClr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— LITERATURE REVIEW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43891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مراجعة الأدبيات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8412480" cy="347472"/>
          </a:xfrm>
          <a:prstGeom prst="rect">
            <a:avLst/>
          </a:prstGeom>
          <a:solidFill>
            <a:srgbClr val="0284C7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84048" y="1115568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الأداة / الإطار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578608" y="1115568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النوع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58768" y="1115568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التحليل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596128" y="1115568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الفجوة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607808" y="1115568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DFAS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1463040"/>
            <a:ext cx="8412480" cy="548640"/>
          </a:xfrm>
          <a:prstGeom prst="rect">
            <a:avLst/>
          </a:prstGeom>
          <a:solidFill>
            <a:srgbClr val="162B5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84048" y="1481328"/>
            <a:ext cx="2194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SP 800-86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78608" y="1481328"/>
            <a:ext cx="1280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إطار عمل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58768" y="1481328"/>
            <a:ext cx="1737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شامل نظرياً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596128" y="1481328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لا يوجد تطبيق تفاعلي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607808" y="1481328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029968"/>
            <a:ext cx="8412480" cy="548640"/>
          </a:xfrm>
          <a:prstGeom prst="rect">
            <a:avLst/>
          </a:prstGeom>
          <a:solidFill>
            <a:srgbClr val="0F1F3D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84048" y="2048256"/>
            <a:ext cx="2194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Autopsy / FTK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578608" y="2048256"/>
            <a:ext cx="1280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أداة جنائية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858768" y="2048256"/>
            <a:ext cx="1737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قرص وملفات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596128" y="2048256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يتطلب تثبيتاً وخبرة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607808" y="2048256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2596896"/>
            <a:ext cx="8412480" cy="548640"/>
          </a:xfrm>
          <a:prstGeom prst="rect">
            <a:avLst/>
          </a:prstGeom>
          <a:solidFill>
            <a:srgbClr val="162B5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84048" y="2615184"/>
            <a:ext cx="2194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Safe Browsing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578608" y="2615184"/>
            <a:ext cx="1280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سحابي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858768" y="2615184"/>
            <a:ext cx="1737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روابط فقط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96128" y="2615184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يحتاج اتصال إنترنت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607808" y="2615184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" y="3163824"/>
            <a:ext cx="8412480" cy="548640"/>
          </a:xfrm>
          <a:prstGeom prst="rect">
            <a:avLst/>
          </a:prstGeom>
          <a:solidFill>
            <a:srgbClr val="0F1F3D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84048" y="3182112"/>
            <a:ext cx="2194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VirusTotal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578608" y="3182112"/>
            <a:ext cx="1280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سحابي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858768" y="3182112"/>
            <a:ext cx="1737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ملفات وروابط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596128" y="3182112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يُرسل بيانات خارجياً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607808" y="3182112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5760" y="3730752"/>
            <a:ext cx="8412480" cy="548640"/>
          </a:xfrm>
          <a:prstGeom prst="rect">
            <a:avLst/>
          </a:prstGeom>
          <a:solidFill>
            <a:srgbClr val="162B5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384048" y="3749040"/>
            <a:ext cx="2194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ExifTool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578608" y="3749040"/>
            <a:ext cx="1280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سطر أوامر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858768" y="3749040"/>
            <a:ext cx="1737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بيانات وصفية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596128" y="3749040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لا واجهة، لا تقارير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607808" y="3749040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65760" y="4315968"/>
            <a:ext cx="8412480" cy="621792"/>
          </a:xfrm>
          <a:prstGeom prst="rect">
            <a:avLst/>
          </a:prstGeom>
          <a:solidFill>
            <a:srgbClr val="0D2137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65760" y="4315968"/>
            <a:ext cx="73152" cy="6217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8640" y="435254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الفجوة التي يسدّها DFAS: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4864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غياب منصة تعليمية متكاملة باللغة العربية تجمع تحليل التصيد + الروابط + الجنائيات الرقمية في أداة واحدة دون الحاجة لإنترنت أو بيانات خارجية.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0" y="4965192"/>
            <a:ext cx="9144000" cy="182880"/>
          </a:xfrm>
          <a:prstGeom prst="rect">
            <a:avLst/>
          </a:prstGeom>
          <a:solidFill>
            <a:srgbClr val="0F1F3D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DFAS  ·  Section 03: Literature Review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645920" cy="256032"/>
          </a:xfrm>
          <a:prstGeom prst="roundRect">
            <a:avLst>
              <a:gd name="adj" fmla="val 17857"/>
            </a:avLst>
          </a:prstGeom>
          <a:solidFill>
            <a:srgbClr val="0EA5E9">
              <a:alpha val="25000"/>
            </a:srgbClr>
          </a:solidFill>
          <a:ln w="1016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 — METHODOLOGY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43891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منهجية العمل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2651760" cy="457200"/>
          </a:xfrm>
          <a:prstGeom prst="rect">
            <a:avLst/>
          </a:prstGeom>
          <a:solidFill>
            <a:srgbClr val="162B5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26517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1556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نوع المشروع: تطبيقي + بحثي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051560"/>
            <a:ext cx="5532120" cy="457200"/>
          </a:xfrm>
          <a:prstGeom prst="rect">
            <a:avLst/>
          </a:prstGeom>
          <a:solidFill>
            <a:srgbClr val="162B5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37560" y="10972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الأدوات والتقنيات المستخدمة: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37560" y="1243584"/>
            <a:ext cx="1554480" cy="201168"/>
          </a:xfrm>
          <a:prstGeom prst="rect">
            <a:avLst/>
          </a:prstGeom>
          <a:solidFill>
            <a:srgbClr val="F59E0B">
              <a:alpha val="20000"/>
            </a:srgbClr>
          </a:solidFill>
          <a:ln w="762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243584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/ CSS3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5074920" y="1243584"/>
            <a:ext cx="1554480" cy="201168"/>
          </a:xfrm>
          <a:prstGeom prst="rect">
            <a:avLst/>
          </a:prstGeom>
          <a:solidFill>
            <a:srgbClr val="0EA5E9">
              <a:alpha val="20000"/>
            </a:srgbClr>
          </a:solidFill>
          <a:ln w="762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4920" y="1243584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6812280" y="1243584"/>
            <a:ext cx="1554480" cy="201168"/>
          </a:xfrm>
          <a:prstGeom prst="rect">
            <a:avLst/>
          </a:prstGeom>
          <a:solidFill>
            <a:srgbClr val="0D9488">
              <a:alpha val="20000"/>
            </a:srgbClr>
          </a:solidFill>
          <a:ln w="762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12280" y="1243584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EXIF Analysis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337560" y="1243584"/>
            <a:ext cx="1554480" cy="201168"/>
          </a:xfrm>
          <a:prstGeom prst="rect">
            <a:avLst/>
          </a:prstGeom>
          <a:solidFill>
            <a:srgbClr val="10B981">
              <a:alpha val="20000"/>
            </a:srgbClr>
          </a:solidFill>
          <a:ln w="762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1243584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Shannon Entropy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074920" y="1243584"/>
            <a:ext cx="1554480" cy="201168"/>
          </a:xfrm>
          <a:prstGeom prst="rect">
            <a:avLst/>
          </a:prstGeom>
          <a:solidFill>
            <a:srgbClr val="EF4444">
              <a:alpha val="20000"/>
            </a:srgbClr>
          </a:solidFill>
          <a:ln w="762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4920" y="1243584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Machine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812280" y="1243584"/>
            <a:ext cx="1554480" cy="201168"/>
          </a:xfrm>
          <a:prstGeom prst="rect">
            <a:avLst/>
          </a:prstGeom>
          <a:solidFill>
            <a:srgbClr val="8FA4BE">
              <a:alpha val="20000"/>
            </a:srgbClr>
          </a:solidFill>
          <a:ln w="7620">
            <a:solidFill>
              <a:srgbClr val="8FA4B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1243584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27037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65760" y="1664208"/>
            <a:ext cx="1965960" cy="3154680"/>
          </a:xfrm>
          <a:prstGeom prst="rect">
            <a:avLst/>
          </a:prstGeom>
          <a:solidFill>
            <a:srgbClr val="162B5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1664208"/>
            <a:ext cx="196596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51560" y="1755648"/>
            <a:ext cx="594360" cy="594360"/>
          </a:xfrm>
          <a:prstGeom prst="ellipse">
            <a:avLst/>
          </a:prstGeom>
          <a:solidFill>
            <a:srgbClr val="0EA5E9">
              <a:alpha val="30000"/>
            </a:srgbClr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51560" y="175564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57200" y="24231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جمع البيانات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269748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Samples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02920" y="2999232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سيناريوهات احتيال حقيقية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2920" y="3502152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روابط خبيثة موثقة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02920" y="4005072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صور مزورة للاختبار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359152" y="2852928"/>
            <a:ext cx="9144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87168" y="1664208"/>
            <a:ext cx="1965960" cy="3154680"/>
          </a:xfrm>
          <a:prstGeom prst="rect">
            <a:avLst/>
          </a:prstGeom>
          <a:solidFill>
            <a:srgbClr val="162B5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487168" y="1664208"/>
            <a:ext cx="19659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172968" y="1755648"/>
            <a:ext cx="594360" cy="594360"/>
          </a:xfrm>
          <a:prstGeom prst="ellipse">
            <a:avLst/>
          </a:prstGeom>
          <a:solidFill>
            <a:srgbClr val="0D9488">
              <a:alpha val="30000"/>
            </a:srgbClr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172968" y="175564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2578608" y="24231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بناء المحركات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578608" y="269748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Development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624328" y="2999232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محرك تحليل التصيد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624328" y="3502152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محرك فحص URL+Entropy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624328" y="4005072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محرك جنائيات الصور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480560" y="2852928"/>
            <a:ext cx="9144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08576" y="1664208"/>
            <a:ext cx="1965960" cy="3154680"/>
          </a:xfrm>
          <a:prstGeom prst="rect">
            <a:avLst/>
          </a:prstGeom>
          <a:solidFill>
            <a:srgbClr val="162B5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608576" y="1664208"/>
            <a:ext cx="19659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294376" y="1755648"/>
            <a:ext cx="594360" cy="594360"/>
          </a:xfrm>
          <a:prstGeom prst="ellipse">
            <a:avLst/>
          </a:prstGeom>
          <a:solidFill>
            <a:srgbClr val="F59E0B">
              <a:alpha val="30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294376" y="175564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4700016" y="24231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الاختبار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700016" y="269748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Validation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745736" y="2999232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بيئة VM معزولة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745736" y="3502152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اختبار 50 حالة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745736" y="4005072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قياس الدقة والأداء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601968" y="2852928"/>
            <a:ext cx="9144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29984" y="1664208"/>
            <a:ext cx="1965960" cy="3154680"/>
          </a:xfrm>
          <a:prstGeom prst="rect">
            <a:avLst/>
          </a:prstGeom>
          <a:solidFill>
            <a:srgbClr val="162B5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729984" y="1664208"/>
            <a:ext cx="19659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415784" y="1755648"/>
            <a:ext cx="594360" cy="594360"/>
          </a:xfrm>
          <a:prstGeom prst="ellipse">
            <a:avLst/>
          </a:prstGeom>
          <a:solidFill>
            <a:srgbClr val="10B981">
              <a:alpha val="30000"/>
            </a:srgbClr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415784" y="175564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6821424" y="24231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التقييم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821424" y="269748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Report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867144" y="2999232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مقارنة مع الأدوات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867144" y="3502152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تقرير ISO 27037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867144" y="4005072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توثيق النتائج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0" y="4965192"/>
            <a:ext cx="9144000" cy="182880"/>
          </a:xfrm>
          <a:prstGeom prst="rect">
            <a:avLst/>
          </a:prstGeom>
          <a:solidFill>
            <a:srgbClr val="0F1F3D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DFAS  ·  Section 04: Methodology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645920" cy="256032"/>
          </a:xfrm>
          <a:prstGeom prst="roundRect">
            <a:avLst>
              <a:gd name="adj" fmla="val 17857"/>
            </a:avLst>
          </a:prstGeom>
          <a:solidFill>
            <a:srgbClr val="0D9488">
              <a:alpha val="25000"/>
            </a:srgbClr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 — TEST ENVIRONMENT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43891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بيئة الاختبار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4937760" cy="658368"/>
          </a:xfrm>
          <a:prstGeom prst="rect">
            <a:avLst/>
          </a:prstGeom>
          <a:solidFill>
            <a:srgbClr val="162B5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78992"/>
            <a:ext cx="54864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1155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المضيف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0352" y="137160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11 / macOS 14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1828800"/>
            <a:ext cx="4937760" cy="658368"/>
          </a:xfrm>
          <a:prstGeom prst="rect">
            <a:avLst/>
          </a:prstGeom>
          <a:solidFill>
            <a:srgbClr val="162B5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828800"/>
            <a:ext cx="54864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186537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المحاكاة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0352" y="2121408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VirtualBox 7.0 — بيئة معزولة تاماً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578608"/>
            <a:ext cx="4937760" cy="658368"/>
          </a:xfrm>
          <a:prstGeom prst="rect">
            <a:avLst/>
          </a:prstGeom>
          <a:solidFill>
            <a:srgbClr val="162B5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578608"/>
            <a:ext cx="54864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261518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الشبكة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30352" y="2871216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Host-Only Network (NAT Disabled)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3328416"/>
            <a:ext cx="4937760" cy="658368"/>
          </a:xfrm>
          <a:prstGeom prst="rect">
            <a:avLst/>
          </a:prstGeom>
          <a:solidFill>
            <a:srgbClr val="162B5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328416"/>
            <a:ext cx="54864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33649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Dataset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0352" y="3621024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حالة اختبار موثقة (تصيد + روابط + صور)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4078224"/>
            <a:ext cx="4937760" cy="658368"/>
          </a:xfrm>
          <a:prstGeom prst="rect">
            <a:avLst/>
          </a:prstGeom>
          <a:solidFill>
            <a:srgbClr val="162B5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4078224"/>
            <a:ext cx="54864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4114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المتصفح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30352" y="4370832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Chromium في وضع Incognito Sandbox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577840" y="1078992"/>
            <a:ext cx="3200400" cy="3657600"/>
          </a:xfrm>
          <a:prstGeom prst="rect">
            <a:avLst/>
          </a:prstGeom>
          <a:solidFill>
            <a:srgbClr val="162B5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577840" y="1078992"/>
            <a:ext cx="32004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0" y="1170432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القيود الأمنية والأخلاقية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669280" y="1499616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&amp; Security Constraints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715000" y="1810512"/>
            <a:ext cx="201168" cy="201168"/>
          </a:xfrm>
          <a:prstGeom prst="ellipse">
            <a:avLst/>
          </a:prstGeom>
          <a:solidFill>
            <a:srgbClr val="10B981">
              <a:alpha val="30000"/>
            </a:srgbClr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15000" y="181051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980176" y="1819656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جميع الاختبارات في بيئة VM معزولة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715000" y="2139696"/>
            <a:ext cx="201168" cy="201168"/>
          </a:xfrm>
          <a:prstGeom prst="ellipse">
            <a:avLst/>
          </a:prstGeom>
          <a:solidFill>
            <a:srgbClr val="10B981">
              <a:alpha val="30000"/>
            </a:srgbClr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15000" y="213969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980176" y="2148840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لا تُرسَل بيانات لخوادم خارجية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715000" y="2468880"/>
            <a:ext cx="201168" cy="201168"/>
          </a:xfrm>
          <a:prstGeom prst="ellipse">
            <a:avLst/>
          </a:prstGeom>
          <a:solidFill>
            <a:srgbClr val="10B981">
              <a:alpha val="30000"/>
            </a:srgbClr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15000" y="246888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980176" y="2478024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البيانات المستخدمة افتراضية وتعليمية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715000" y="2798064"/>
            <a:ext cx="201168" cy="201168"/>
          </a:xfrm>
          <a:prstGeom prst="ellipse">
            <a:avLst/>
          </a:prstGeom>
          <a:solidFill>
            <a:srgbClr val="10B981">
              <a:alpha val="30000"/>
            </a:srgbClr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15000" y="279806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980176" y="2807208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لا اختراق لأنظمة حقيقية بأي حال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715000" y="3127248"/>
            <a:ext cx="201168" cy="201168"/>
          </a:xfrm>
          <a:prstGeom prst="ellipse">
            <a:avLst/>
          </a:prstGeom>
          <a:solidFill>
            <a:srgbClr val="10B981">
              <a:alpha val="30000"/>
            </a:srgbClr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15000" y="312724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980176" y="3136392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الالتزام بأخلاقيات الأمن السيبراني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715000" y="3456432"/>
            <a:ext cx="201168" cy="201168"/>
          </a:xfrm>
          <a:prstGeom prst="ellipse">
            <a:avLst/>
          </a:prstGeom>
          <a:solidFill>
            <a:srgbClr val="10B981">
              <a:alpha val="30000"/>
            </a:srgbClr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715000" y="345643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980176" y="3465576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توثيق كل مرحلة وفق RFC 3227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715000" y="3749040"/>
            <a:ext cx="2971800" cy="841248"/>
          </a:xfrm>
          <a:prstGeom prst="rect">
            <a:avLst/>
          </a:prstGeom>
          <a:solidFill>
            <a:srgbClr val="0D213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715000" y="379476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TLP:AMBER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760720" y="4059936"/>
            <a:ext cx="2880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المعلومات محمية — للاستخدام التعليمي فقط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Light Protocol — Restricted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0" y="4965192"/>
            <a:ext cx="9144000" cy="182880"/>
          </a:xfrm>
          <a:prstGeom prst="rect">
            <a:avLst/>
          </a:prstGeom>
          <a:solidFill>
            <a:srgbClr val="0F1F3D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DFAS  ·  Section 05: Test Environment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645920" cy="256032"/>
          </a:xfrm>
          <a:prstGeom prst="roundRect">
            <a:avLst>
              <a:gd name="adj" fmla="val 17857"/>
            </a:avLst>
          </a:prstGeom>
          <a:solidFill>
            <a:srgbClr val="10B981">
              <a:alpha val="25000"/>
            </a:srgbClr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 — RESULTS &amp; ANALYSIS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43891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تحليل النتائج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1965960" cy="1170432"/>
          </a:xfrm>
          <a:prstGeom prst="rect">
            <a:avLst/>
          </a:prstGeom>
          <a:solidFill>
            <a:srgbClr val="162B5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196596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15568"/>
            <a:ext cx="1965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65760" y="171907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دقة كشف التصيد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2121408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Detection Accuracy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487168" y="1051560"/>
            <a:ext cx="1965960" cy="1170432"/>
          </a:xfrm>
          <a:prstGeom prst="rect">
            <a:avLst/>
          </a:prstGeom>
          <a:solidFill>
            <a:srgbClr val="162B5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87168" y="1051560"/>
            <a:ext cx="19659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87168" y="1115568"/>
            <a:ext cx="1965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2487168" y="171907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دقة فحص URL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487168" y="2121408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Analysis Accuracy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608576" y="1051560"/>
            <a:ext cx="1965960" cy="1170432"/>
          </a:xfrm>
          <a:prstGeom prst="rect">
            <a:avLst/>
          </a:prstGeom>
          <a:solidFill>
            <a:srgbClr val="162B5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08576" y="1051560"/>
            <a:ext cx="19659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08576" y="1115568"/>
            <a:ext cx="1965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4608576" y="171907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دقة جنائيات الصور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08576" y="2121408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Forensics Accuracy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729984" y="1051560"/>
            <a:ext cx="1965960" cy="1170432"/>
          </a:xfrm>
          <a:prstGeom prst="rect">
            <a:avLst/>
          </a:prstGeom>
          <a:solidFill>
            <a:srgbClr val="162B5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29984" y="1051560"/>
            <a:ext cx="19659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29984" y="1115568"/>
            <a:ext cx="1965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3s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6729984" y="171907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زمن الاستجابة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729984" y="2121408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Response Time</a:t>
            </a:r>
            <a:endParaRPr lang="en-US" sz="75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365760" y="2395728"/>
          <a:ext cx="5029200" cy="24871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7" name="Shape 24"/>
          <p:cNvSpPr/>
          <p:nvPr/>
        </p:nvSpPr>
        <p:spPr>
          <a:xfrm>
            <a:off x="5669280" y="2395728"/>
            <a:ext cx="3108960" cy="2487168"/>
          </a:xfrm>
          <a:prstGeom prst="rect">
            <a:avLst/>
          </a:prstGeom>
          <a:solidFill>
            <a:srgbClr val="162B5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5669280" y="2395728"/>
            <a:ext cx="31089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760720" y="248716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أبرز النتائج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5669280" y="2852928"/>
            <a:ext cx="54864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833872" y="285292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DFAS يتجاوز الأدوات المقارنة بنسبة 12-15%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669280" y="3236976"/>
            <a:ext cx="54864" cy="2743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833872" y="3236976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لا يتطلب اتصالاً بالإنترنت (Offline First)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5669280" y="3621024"/>
            <a:ext cx="54864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833872" y="362102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تقارير ISO 27037 جاهزة للاستخدام القانوني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5669280" y="4005072"/>
            <a:ext cx="54864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833872" y="400507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يدعم العربية بالكامل — الأول من نوعه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5669280" y="4389120"/>
            <a:ext cx="54864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833872" y="438912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زمن استجابة أقل من 3 ثوانٍ لكل تحليل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0" y="4965192"/>
            <a:ext cx="9144000" cy="182880"/>
          </a:xfrm>
          <a:prstGeom prst="rect">
            <a:avLst/>
          </a:prstGeom>
          <a:solidFill>
            <a:srgbClr val="0F1F3D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DFAS  ·  Section 06: Results &amp; Analysis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645920" cy="256032"/>
          </a:xfrm>
          <a:prstGeom prst="roundRect">
            <a:avLst>
              <a:gd name="adj" fmla="val 17857"/>
            </a:avLst>
          </a:prstGeom>
          <a:solidFill>
            <a:srgbClr val="F59E0B">
              <a:alpha val="25000"/>
            </a:srgbClr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 — RECOMMENDATIONS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43891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التوصيات والتحسينات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2743200" cy="3657600"/>
          </a:xfrm>
          <a:prstGeom prst="rect">
            <a:avLst/>
          </a:prstGeom>
          <a:solidFill>
            <a:srgbClr val="162B5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15568"/>
            <a:ext cx="27432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34440" y="1207008"/>
            <a:ext cx="658368" cy="658368"/>
          </a:xfrm>
          <a:prstGeom prst="ellipse">
            <a:avLst/>
          </a:prstGeom>
          <a:solidFill>
            <a:srgbClr val="10B981">
              <a:alpha val="25000"/>
            </a:srgbClr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4440" y="120700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9202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المرحلة الحالية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340864"/>
            <a:ext cx="2560320" cy="310896"/>
          </a:xfrm>
          <a:prstGeom prst="rect">
            <a:avLst/>
          </a:prstGeom>
          <a:solidFill>
            <a:srgbClr val="1A3A1A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23591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3 محركات تحليل سيبراني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688336"/>
            <a:ext cx="2560320" cy="310896"/>
          </a:xfrm>
          <a:prstGeom prst="rect">
            <a:avLst/>
          </a:prstGeom>
          <a:solidFill>
            <a:srgbClr val="1A3A1A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270662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47 مؤشر كشف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035808"/>
            <a:ext cx="2560320" cy="310896"/>
          </a:xfrm>
          <a:prstGeom prst="rect">
            <a:avLst/>
          </a:prstGeom>
          <a:solidFill>
            <a:srgbClr val="1A3A1A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305409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تقارير ISO 27037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3383280"/>
            <a:ext cx="2560320" cy="310896"/>
          </a:xfrm>
          <a:prstGeom prst="rect">
            <a:avLst/>
          </a:prstGeom>
          <a:solidFill>
            <a:srgbClr val="1A3A1A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" y="340156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واجهة عربية كاملة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64408" y="1115568"/>
            <a:ext cx="2743200" cy="3657600"/>
          </a:xfrm>
          <a:prstGeom prst="rect">
            <a:avLst/>
          </a:prstGeom>
          <a:solidFill>
            <a:srgbClr val="162B5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64408" y="1115568"/>
            <a:ext cx="27432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33088" y="1207008"/>
            <a:ext cx="658368" cy="658368"/>
          </a:xfrm>
          <a:prstGeom prst="ellipse">
            <a:avLst/>
          </a:prstGeom>
          <a:solidFill>
            <a:srgbClr val="0EA5E9">
              <a:alpha val="25000"/>
            </a:srgbClr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33088" y="120700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55848" y="19202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التحسينات القريبة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355848" y="2340864"/>
            <a:ext cx="2560320" cy="310896"/>
          </a:xfrm>
          <a:prstGeom prst="rect">
            <a:avLst/>
          </a:prstGeom>
          <a:solidFill>
            <a:srgbClr val="0F1F3D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447288" y="23591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تكامل مع VirusTotal API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355848" y="2688336"/>
            <a:ext cx="2560320" cy="310896"/>
          </a:xfrm>
          <a:prstGeom prst="rect">
            <a:avLst/>
          </a:prstGeom>
          <a:solidFill>
            <a:srgbClr val="0F1F3D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47288" y="270662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كشف التزييف العميق (Deepfake)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355848" y="3035808"/>
            <a:ext cx="2560320" cy="310896"/>
          </a:xfrm>
          <a:prstGeom prst="rect">
            <a:avLst/>
          </a:prstGeom>
          <a:solidFill>
            <a:srgbClr val="0F1F3D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447288" y="305409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تحليل روابط مختصرة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355848" y="3383280"/>
            <a:ext cx="2560320" cy="310896"/>
          </a:xfrm>
          <a:prstGeom prst="rect">
            <a:avLst/>
          </a:prstGeom>
          <a:solidFill>
            <a:srgbClr val="0F1F3D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447288" y="340156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قاعدة بيانات IOC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163056" y="1115568"/>
            <a:ext cx="2743200" cy="3657600"/>
          </a:xfrm>
          <a:prstGeom prst="rect">
            <a:avLst/>
          </a:prstGeom>
          <a:solidFill>
            <a:srgbClr val="162B5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63056" y="1115568"/>
            <a:ext cx="27432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031736" y="1207008"/>
            <a:ext cx="658368" cy="658368"/>
          </a:xfrm>
          <a:prstGeom prst="ellipse">
            <a:avLst/>
          </a:prstGeom>
          <a:solidFill>
            <a:srgbClr val="F59E0B">
              <a:alpha val="25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31736" y="120700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v3.0+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54496" y="19202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التوسع الأوسع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54496" y="2340864"/>
            <a:ext cx="2560320" cy="310896"/>
          </a:xfrm>
          <a:prstGeom prst="rect">
            <a:avLst/>
          </a:prstGeom>
          <a:solidFill>
            <a:srgbClr val="3A2A0A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345936" y="23591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نشر على منصات سحابية حكومية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254496" y="2688336"/>
            <a:ext cx="2560320" cy="310896"/>
          </a:xfrm>
          <a:prstGeom prst="rect">
            <a:avLst/>
          </a:prstGeom>
          <a:solidFill>
            <a:srgbClr val="3A2A0A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345936" y="270662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تكامل مع SIEM Systems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254496" y="3035808"/>
            <a:ext cx="2560320" cy="310896"/>
          </a:xfrm>
          <a:prstGeom prst="rect">
            <a:avLst/>
          </a:prstGeom>
          <a:solidFill>
            <a:srgbClr val="3A2A0A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345936" y="305409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نموذج ML للتحليل التنبؤي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254496" y="3383280"/>
            <a:ext cx="2560320" cy="310896"/>
          </a:xfrm>
          <a:prstGeom prst="rect">
            <a:avLst/>
          </a:prstGeom>
          <a:solidFill>
            <a:srgbClr val="3A2A0A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345936" y="340156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واجهة API للجهات الأمنية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65760" y="4526280"/>
            <a:ext cx="8412480" cy="347472"/>
          </a:xfrm>
          <a:prstGeom prst="rect">
            <a:avLst/>
          </a:prstGeom>
          <a:solidFill>
            <a:srgbClr val="0D2137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65760" y="4526280"/>
            <a:ext cx="73152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8640" y="455371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التطبيق الواقعي: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2103120" y="4562856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يمكن نشر DFAS في مراكز الأمن السيبراني، الجهات القضائية، والمؤسسات التعليمية كأداة تدريبية للمحققين الجنائيين الرقميين.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0" y="4965192"/>
            <a:ext cx="9144000" cy="182880"/>
          </a:xfrm>
          <a:prstGeom prst="rect">
            <a:avLst/>
          </a:prstGeom>
          <a:solidFill>
            <a:srgbClr val="0F1F3D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DFAS  ·  Section 07: Recommendations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FA4BE"/>
          </a:solidFill>
          <a:ln w="12700">
            <a:solidFill>
              <a:srgbClr val="8FA4B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645920" cy="256032"/>
          </a:xfrm>
          <a:prstGeom prst="roundRect">
            <a:avLst>
              <a:gd name="adj" fmla="val 17857"/>
            </a:avLst>
          </a:prstGeom>
          <a:solidFill>
            <a:srgbClr val="8FA4BE">
              <a:alpha val="25000"/>
            </a:srgbClr>
          </a:solidFill>
          <a:ln w="10160">
            <a:solidFill>
              <a:srgbClr val="8FA4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08 — REFERENCES &amp; APPENDICES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43891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المراجع والملاحق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4754880" cy="3749040"/>
          </a:xfrm>
          <a:prstGeom prst="rect">
            <a:avLst/>
          </a:prstGeom>
          <a:solidFill>
            <a:srgbClr val="162B5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78992"/>
            <a:ext cx="475488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70432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المراجع العلمية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53619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NIST SP 800-86 — Guide to Integrating Forensic Techniques into Incident Response, 2006.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1975104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ISO/IEC 27037:2012 — Guidelines for Identification, Collection, Acquisition and Preservation of Digital Evidence.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7200" y="2414016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RFC 3227 — Guidelines for Evidence Collection and Archiving, IETF, 2002.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57200" y="285292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ACPO Digital Evidence Guidelines — v5, Association of Chief Police Officers, 2012.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57200" y="32918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Hutchings, A. et al. — Cybercrime and Online Fraud Detection Systems Review, IEEE Security, 2021.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57200" y="373075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Aburrous, M. et al. — Intelligent Phishing Website Detection Using Machine Learning, Expert Systems with Applications, 2010.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" y="4169664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Shannon, C.E. — A Mathematical Theory of Communication, Bell System Technical Journal, 1948.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349240" y="1078992"/>
            <a:ext cx="3429000" cy="3749040"/>
          </a:xfrm>
          <a:prstGeom prst="rect">
            <a:avLst/>
          </a:prstGeom>
          <a:solidFill>
            <a:srgbClr val="162B5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349240" y="1078992"/>
            <a:ext cx="3429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40680" y="1170432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الملاحق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40680" y="1572768"/>
            <a:ext cx="3246120" cy="548640"/>
          </a:xfrm>
          <a:prstGeom prst="rect">
            <a:avLst/>
          </a:prstGeom>
          <a:solidFill>
            <a:srgbClr val="0F1F3D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504688" y="1627632"/>
            <a:ext cx="384048" cy="384048"/>
          </a:xfrm>
          <a:prstGeom prst="ellipse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04688" y="16276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61888" y="1636776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كود المصدر الكامل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61888" y="1856232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HTML/CSS/JavaScript — الملف الرئيسي للنظام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440680" y="2194560"/>
            <a:ext cx="3246120" cy="548640"/>
          </a:xfrm>
          <a:prstGeom prst="rect">
            <a:avLst/>
          </a:prstGeom>
          <a:solidFill>
            <a:srgbClr val="0F1F3D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504688" y="2249424"/>
            <a:ext cx="384048" cy="384048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04688" y="22494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61888" y="2258568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لقطات شاشة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61888" y="2478024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واجهات التحليل الثلاث + لوحة القيادة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440680" y="2816352"/>
            <a:ext cx="3246120" cy="548640"/>
          </a:xfrm>
          <a:prstGeom prst="rect">
            <a:avLst/>
          </a:prstGeom>
          <a:solidFill>
            <a:srgbClr val="0F1F3D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504688" y="2871216"/>
            <a:ext cx="384048" cy="384048"/>
          </a:xfrm>
          <a:prstGeom prst="ellipse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04688" y="28712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961888" y="2880360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961888" y="3099816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حالة اختبار موثقة مع النتائج المتوقعة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440680" y="3438144"/>
            <a:ext cx="3246120" cy="548640"/>
          </a:xfrm>
          <a:prstGeom prst="rect">
            <a:avLst/>
          </a:prstGeom>
          <a:solidFill>
            <a:srgbClr val="0F1F3D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504688" y="3493008"/>
            <a:ext cx="384048" cy="384048"/>
          </a:xfrm>
          <a:prstGeom prst="ellipse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04688" y="34930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961888" y="3502152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تقرير ISO 27037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961888" y="3721608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نموذج التقرير الجنائي الرقمي الكامل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440680" y="4059936"/>
            <a:ext cx="3246120" cy="548640"/>
          </a:xfrm>
          <a:prstGeom prst="rect">
            <a:avLst/>
          </a:prstGeom>
          <a:solidFill>
            <a:srgbClr val="0F1F3D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504688" y="4114800"/>
            <a:ext cx="384048" cy="384048"/>
          </a:xfrm>
          <a:prstGeom prst="ellipse">
            <a:avLst/>
          </a:prstGeom>
          <a:solidFill>
            <a:srgbClr val="EF4444">
              <a:alpha val="2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04688" y="4114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961888" y="4123944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of Custody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961888" y="4343400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نموذج سلسلة الحفاظ على الأدلة الرقمية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0" y="4965192"/>
            <a:ext cx="9144000" cy="182880"/>
          </a:xfrm>
          <a:prstGeom prst="rect">
            <a:avLst/>
          </a:prstGeom>
          <a:solidFill>
            <a:srgbClr val="0F1F3D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DFAS  ·  Section 08: References &amp; Appendices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28016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28600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329184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429768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54480" y="27432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54480" y="128016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54480" y="228600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54480" y="329184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54480" y="429768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0" y="27432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128016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0" y="228600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0" y="329184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0" y="429768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31920" y="27432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31920" y="128016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31920" y="228600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931920" y="329184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931920" y="429768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20640" y="27432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20640" y="128016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20640" y="228600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20640" y="329184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20640" y="429768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09360" y="27432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09360" y="128016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09360" y="228600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09360" y="329184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09360" y="429768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98080" y="27432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98080" y="128016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498080" y="228600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498080" y="329184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98080" y="429768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686800" y="27432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686800" y="128016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686800" y="228600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686800" y="329184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686800" y="429768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8229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شكراً لكم</a:t>
            </a:r>
            <a:endParaRPr lang="en-US" sz="5600" dirty="0"/>
          </a:p>
        </p:txBody>
      </p:sp>
      <p:sp>
        <p:nvSpPr>
          <p:cNvPr id="45" name="Text 43"/>
          <p:cNvSpPr/>
          <p:nvPr/>
        </p:nvSpPr>
        <p:spPr>
          <a:xfrm>
            <a:off x="457200" y="166420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46" name="Shape 44"/>
          <p:cNvSpPr/>
          <p:nvPr/>
        </p:nvSpPr>
        <p:spPr>
          <a:xfrm>
            <a:off x="2743200" y="2212848"/>
            <a:ext cx="3657600" cy="3657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68680" y="2423160"/>
            <a:ext cx="1737360" cy="1234440"/>
          </a:xfrm>
          <a:prstGeom prst="rect">
            <a:avLst/>
          </a:prstGeom>
          <a:solidFill>
            <a:srgbClr val="162B5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868680" y="2423160"/>
            <a:ext cx="173736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68680" y="2487168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50" name="Text 48"/>
          <p:cNvSpPr/>
          <p:nvPr/>
        </p:nvSpPr>
        <p:spPr>
          <a:xfrm>
            <a:off x="868680" y="3090672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محركات تحليل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788920" y="2423160"/>
            <a:ext cx="1737360" cy="1234440"/>
          </a:xfrm>
          <a:prstGeom prst="rect">
            <a:avLst/>
          </a:prstGeom>
          <a:solidFill>
            <a:srgbClr val="162B5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2788920" y="2423160"/>
            <a:ext cx="17373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788920" y="2487168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3000" dirty="0"/>
          </a:p>
        </p:txBody>
      </p:sp>
      <p:sp>
        <p:nvSpPr>
          <p:cNvPr id="54" name="Text 52"/>
          <p:cNvSpPr/>
          <p:nvPr/>
        </p:nvSpPr>
        <p:spPr>
          <a:xfrm>
            <a:off x="2788920" y="3090672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مؤشر كشف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709160" y="2423160"/>
            <a:ext cx="1737360" cy="1234440"/>
          </a:xfrm>
          <a:prstGeom prst="rect">
            <a:avLst/>
          </a:prstGeom>
          <a:solidFill>
            <a:srgbClr val="162B5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4709160" y="2423160"/>
            <a:ext cx="17373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09160" y="2487168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</a:t>
            </a:r>
            <a:endParaRPr lang="en-US" sz="3000" dirty="0"/>
          </a:p>
        </p:txBody>
      </p:sp>
      <p:sp>
        <p:nvSpPr>
          <p:cNvPr id="58" name="Text 56"/>
          <p:cNvSpPr/>
          <p:nvPr/>
        </p:nvSpPr>
        <p:spPr>
          <a:xfrm>
            <a:off x="4709160" y="3090672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دقة التحليل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629400" y="2423160"/>
            <a:ext cx="1737360" cy="1234440"/>
          </a:xfrm>
          <a:prstGeom prst="rect">
            <a:avLst/>
          </a:prstGeom>
          <a:solidFill>
            <a:srgbClr val="162B5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6629400" y="2423160"/>
            <a:ext cx="17373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629400" y="2487168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</a:t>
            </a:r>
            <a:endParaRPr lang="en-US" sz="3000" dirty="0"/>
          </a:p>
        </p:txBody>
      </p:sp>
      <p:sp>
        <p:nvSpPr>
          <p:cNvPr id="62" name="Text 60"/>
          <p:cNvSpPr/>
          <p:nvPr/>
        </p:nvSpPr>
        <p:spPr>
          <a:xfrm>
            <a:off x="6629400" y="3090672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27037 معتمد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457200" y="382219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100" kern="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DFAS — Digital Forensics Analysis System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457200" y="4133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مشروع تخرج — دبلوم الأمن السيبراني  ·  2025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0" y="4965192"/>
            <a:ext cx="9144000" cy="182880"/>
          </a:xfrm>
          <a:prstGeom prst="rect">
            <a:avLst/>
          </a:prstGeom>
          <a:solidFill>
            <a:srgbClr val="0F1F3D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80" kern="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SP 800-86  ·  ISO/IEC 27037:2012  ·  RFC 3227  ·  ACPO Digital Evidence Guidelines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DFAS - مشروع تخرج دبلوم الأمن السيبراني</dc:title>
  <dc:subject>PptxGenJS Presentation</dc:subject>
  <dc:creator>مشروع تخرج</dc:creator>
  <cp:lastModifiedBy>مشروع تخرج</cp:lastModifiedBy>
  <cp:revision>1</cp:revision>
  <dcterms:created xsi:type="dcterms:W3CDTF">2026-04-21T13:37:41Z</dcterms:created>
  <dcterms:modified xsi:type="dcterms:W3CDTF">2026-04-21T13:37:41Z</dcterms:modified>
</cp:coreProperties>
</file>